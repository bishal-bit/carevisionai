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73" r:id="rId2"/>
    <p:sldId id="274"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49B52-9410-486D-B793-58C6B6C0F67E}" type="datetimeFigureOut">
              <a:rPr lang="en-IN" smtClean="0"/>
              <a:t>23-04-2025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43A52E-054A-489B-938F-2E053FBC0524}" type="slidenum">
              <a:rPr lang="en-IN" smtClean="0"/>
              <a:t>‹#›</a:t>
            </a:fld>
            <a:endParaRPr lang="en-IN"/>
          </a:p>
        </p:txBody>
      </p:sp>
    </p:spTree>
    <p:extLst>
      <p:ext uri="{BB962C8B-B14F-4D97-AF65-F5344CB8AC3E}">
        <p14:creationId xmlns:p14="http://schemas.microsoft.com/office/powerpoint/2010/main" val="345859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94309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B338B-EFE9-2CA7-3635-B80E6CDB61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894090-AA59-3C3E-5967-9721C8FEC3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07AFE3-6320-0928-1186-362B67AACA2F}"/>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5" name="Footer Placeholder 4">
            <a:extLst>
              <a:ext uri="{FF2B5EF4-FFF2-40B4-BE49-F238E27FC236}">
                <a16:creationId xmlns:a16="http://schemas.microsoft.com/office/drawing/2014/main" id="{6AB1A5BF-0AB6-C137-7D50-5E0BE26174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850734-94EA-8207-8584-955C377821BA}"/>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2545646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744E0-9C36-3B25-9E3E-BFDF10226E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FEC5A4-C317-1524-C601-E3B1803709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9B0F18-008B-7603-E608-3F75D2C14205}"/>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5" name="Footer Placeholder 4">
            <a:extLst>
              <a:ext uri="{FF2B5EF4-FFF2-40B4-BE49-F238E27FC236}">
                <a16:creationId xmlns:a16="http://schemas.microsoft.com/office/drawing/2014/main" id="{D056FF98-C4DD-114C-F1E0-B7D1632800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1F565C-A5B4-F47F-1BF2-1E547D6A8712}"/>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231456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9A88F-67AE-13E4-7564-F5CFB616BF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65BC77-E5DE-97DC-C199-800918EFD6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7E1288-8311-ACF8-CCF6-938F99EFB22F}"/>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5" name="Footer Placeholder 4">
            <a:extLst>
              <a:ext uri="{FF2B5EF4-FFF2-40B4-BE49-F238E27FC236}">
                <a16:creationId xmlns:a16="http://schemas.microsoft.com/office/drawing/2014/main" id="{900F25B5-CFE1-A218-8DBD-62F9495F71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89256D-B63E-92A1-DD61-5142165216CA}"/>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2309255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D353-AC4E-842E-464B-3E53FD8A93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38DC7A-534C-E380-B080-845404AB3D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4E247C-F7D3-741D-EBF3-2FAC401B97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B4D23D-E398-8756-F738-A953D75E209B}"/>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6" name="Footer Placeholder 5">
            <a:extLst>
              <a:ext uri="{FF2B5EF4-FFF2-40B4-BE49-F238E27FC236}">
                <a16:creationId xmlns:a16="http://schemas.microsoft.com/office/drawing/2014/main" id="{7D917DDB-C7E8-8CFE-2BD1-BD9BDE873E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646012-F9C9-4618-8E85-9BE49359EB7E}"/>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2521921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FF8A-494C-88E5-A600-2EC355966C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BB0B0A-11A8-F72A-A7A5-AAEFBC6FD0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F6C7FC-C413-81CF-F797-943302DE05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F966A90-DD39-2DCB-89E5-E155C1DF0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2329C2-C7F0-90E2-DA85-65B1461971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828B7B-1B44-C5D8-6497-A2A1BEEB4648}"/>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8" name="Footer Placeholder 7">
            <a:extLst>
              <a:ext uri="{FF2B5EF4-FFF2-40B4-BE49-F238E27FC236}">
                <a16:creationId xmlns:a16="http://schemas.microsoft.com/office/drawing/2014/main" id="{A8234F7E-43F4-F1D3-F7D0-98A3F95EC8C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FDE1D6-88F5-FDB7-B966-C1501A439E09}"/>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1311014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20E2C-D935-32E0-C77F-A2E4576052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E8848F-6EDE-F4EB-6158-13873E855F49}"/>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4" name="Footer Placeholder 3">
            <a:extLst>
              <a:ext uri="{FF2B5EF4-FFF2-40B4-BE49-F238E27FC236}">
                <a16:creationId xmlns:a16="http://schemas.microsoft.com/office/drawing/2014/main" id="{684BD3D1-2872-4BA0-462F-B4E1BBEE87C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42ED6A-32DA-D543-F8FF-91720EEDAB10}"/>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248183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A1236-5524-35D0-1035-F954B65A5564}"/>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3" name="Footer Placeholder 2">
            <a:extLst>
              <a:ext uri="{FF2B5EF4-FFF2-40B4-BE49-F238E27FC236}">
                <a16:creationId xmlns:a16="http://schemas.microsoft.com/office/drawing/2014/main" id="{4F962CEF-7444-B046-73EE-F46E8AE1696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BCA4EA-E2CB-9819-87BB-CDB1E410E928}"/>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3186867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5A97-8674-1D86-D0AD-4089AA8480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385AF5-EA86-6038-246B-E727B90EE9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461081-5364-3D6B-F1AA-9675DB5E6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E1DE3F-64B5-E5AA-BFC7-3861C17687DD}"/>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6" name="Footer Placeholder 5">
            <a:extLst>
              <a:ext uri="{FF2B5EF4-FFF2-40B4-BE49-F238E27FC236}">
                <a16:creationId xmlns:a16="http://schemas.microsoft.com/office/drawing/2014/main" id="{7A104A42-405B-FCDE-1C88-4906E53DC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2E3B11-CA92-7051-5E84-017B111AC73D}"/>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3261837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B27FA-0494-3206-4E55-565B096019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F9216B-2DE5-6EF6-ED53-1918DF6D9D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830DAE-87E9-1FB5-ED17-220D735792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49E0C-F6FA-70C9-4808-98096EC2669C}"/>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6" name="Footer Placeholder 5">
            <a:extLst>
              <a:ext uri="{FF2B5EF4-FFF2-40B4-BE49-F238E27FC236}">
                <a16:creationId xmlns:a16="http://schemas.microsoft.com/office/drawing/2014/main" id="{A973A258-DB10-3A5A-2086-42D4249EC8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C25409-9AB8-C8D4-7FFF-CC512656DCF8}"/>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243863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5D995-A487-2397-915E-580E518A4D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15AD77-6ECB-B428-B6EB-0435B8727E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761854-335A-85F5-427C-C17F311668A8}"/>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5" name="Footer Placeholder 4">
            <a:extLst>
              <a:ext uri="{FF2B5EF4-FFF2-40B4-BE49-F238E27FC236}">
                <a16:creationId xmlns:a16="http://schemas.microsoft.com/office/drawing/2014/main" id="{F4F26A49-286D-1C83-4695-999ABB4624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9DD5D8-2080-EE8C-6693-38B6CB00B75C}"/>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3872793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2332C6-01C6-9930-4BB3-4F34253C5E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0EA7C8-4CFD-EDEB-F658-B5EFB06BA8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D3158D-6E4D-04BA-A883-39AD8CAAEA6A}"/>
              </a:ext>
            </a:extLst>
          </p:cNvPr>
          <p:cNvSpPr>
            <a:spLocks noGrp="1"/>
          </p:cNvSpPr>
          <p:nvPr>
            <p:ph type="dt" sz="half" idx="10"/>
          </p:nvPr>
        </p:nvSpPr>
        <p:spPr/>
        <p:txBody>
          <a:bodyPr/>
          <a:lstStyle/>
          <a:p>
            <a:fld id="{DAA4B2E4-4009-4B7F-BA83-1475EF6954F7}" type="datetimeFigureOut">
              <a:rPr lang="en-IN" smtClean="0"/>
              <a:t>23-04-2025</a:t>
            </a:fld>
            <a:endParaRPr lang="en-IN"/>
          </a:p>
        </p:txBody>
      </p:sp>
      <p:sp>
        <p:nvSpPr>
          <p:cNvPr id="5" name="Footer Placeholder 4">
            <a:extLst>
              <a:ext uri="{FF2B5EF4-FFF2-40B4-BE49-F238E27FC236}">
                <a16:creationId xmlns:a16="http://schemas.microsoft.com/office/drawing/2014/main" id="{E3552323-B550-924B-14F7-5648DE9A0F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0230DC-0291-7654-5296-267A1A3823FE}"/>
              </a:ext>
            </a:extLst>
          </p:cNvPr>
          <p:cNvSpPr>
            <a:spLocks noGrp="1"/>
          </p:cNvSpPr>
          <p:nvPr>
            <p:ph type="sldNum" sz="quarter" idx="12"/>
          </p:nvPr>
        </p:nvSpPr>
        <p:spPr/>
        <p:txBody>
          <a:bodyPr/>
          <a:lstStyle/>
          <a:p>
            <a:fld id="{423464F0-CC42-4B65-A9CD-83804629D093}" type="slidenum">
              <a:rPr lang="en-IN" smtClean="0"/>
              <a:t>‹#›</a:t>
            </a:fld>
            <a:endParaRPr lang="en-IN"/>
          </a:p>
        </p:txBody>
      </p:sp>
    </p:spTree>
    <p:extLst>
      <p:ext uri="{BB962C8B-B14F-4D97-AF65-F5344CB8AC3E}">
        <p14:creationId xmlns:p14="http://schemas.microsoft.com/office/powerpoint/2010/main" val="1038237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7FB725-F96C-2EDE-BD38-6307CEA601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4C36B8-4C48-667B-420E-98B6F99DEC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BCB506-68EB-6905-3C9D-39AB6B1416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A4B2E4-4009-4B7F-BA83-1475EF6954F7}" type="datetimeFigureOut">
              <a:rPr lang="en-IN" smtClean="0"/>
              <a:t>23-04-2025</a:t>
            </a:fld>
            <a:endParaRPr lang="en-IN"/>
          </a:p>
        </p:txBody>
      </p:sp>
      <p:sp>
        <p:nvSpPr>
          <p:cNvPr id="5" name="Footer Placeholder 4">
            <a:extLst>
              <a:ext uri="{FF2B5EF4-FFF2-40B4-BE49-F238E27FC236}">
                <a16:creationId xmlns:a16="http://schemas.microsoft.com/office/drawing/2014/main" id="{C5549A63-9562-B663-1F15-A605C2B3F9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8727C70-0FD6-13BF-4ADF-2FEF3CD76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3464F0-CC42-4B65-A9CD-83804629D093}" type="slidenum">
              <a:rPr lang="en-IN" smtClean="0"/>
              <a:t>‹#›</a:t>
            </a:fld>
            <a:endParaRPr lang="en-IN"/>
          </a:p>
        </p:txBody>
      </p:sp>
    </p:spTree>
    <p:extLst>
      <p:ext uri="{BB962C8B-B14F-4D97-AF65-F5344CB8AC3E}">
        <p14:creationId xmlns:p14="http://schemas.microsoft.com/office/powerpoint/2010/main" val="4291392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259AC5-97D0-97E8-F982-9C120CF83B82}"/>
              </a:ext>
            </a:extLst>
          </p:cNvPr>
          <p:cNvSpPr txBox="1"/>
          <p:nvPr/>
        </p:nvSpPr>
        <p:spPr>
          <a:xfrm>
            <a:off x="0" y="-28115"/>
            <a:ext cx="12192000" cy="748988"/>
          </a:xfrm>
          <a:prstGeom prst="rect">
            <a:avLst/>
          </a:prstGeom>
          <a:noFill/>
        </p:spPr>
        <p:txBody>
          <a:bodyPr wrap="square" rtlCol="0">
            <a:spAutoFit/>
          </a:bodyPr>
          <a:lstStyle/>
          <a:p>
            <a:pPr algn="ctr"/>
            <a:r>
              <a:rPr lang="en" sz="4267" dirty="0">
                <a:solidFill>
                  <a:schemeClr val="accent4">
                    <a:lumMod val="75000"/>
                  </a:schemeClr>
                </a:solidFill>
              </a:rPr>
              <a:t>Diagnosis AI</a:t>
            </a:r>
            <a:endParaRPr lang="en-IN" sz="4267" dirty="0">
              <a:solidFill>
                <a:schemeClr val="accent4">
                  <a:lumMod val="75000"/>
                </a:schemeClr>
              </a:solidFill>
            </a:endParaRPr>
          </a:p>
        </p:txBody>
      </p:sp>
      <p:sp>
        <p:nvSpPr>
          <p:cNvPr id="3" name="TextBox 2">
            <a:extLst>
              <a:ext uri="{FF2B5EF4-FFF2-40B4-BE49-F238E27FC236}">
                <a16:creationId xmlns:a16="http://schemas.microsoft.com/office/drawing/2014/main" id="{3D2756F7-F018-1BDC-C983-851EAE21772B}"/>
              </a:ext>
            </a:extLst>
          </p:cNvPr>
          <p:cNvSpPr txBox="1"/>
          <p:nvPr/>
        </p:nvSpPr>
        <p:spPr>
          <a:xfrm>
            <a:off x="521787" y="798610"/>
            <a:ext cx="11808432" cy="584775"/>
          </a:xfrm>
          <a:prstGeom prst="rect">
            <a:avLst/>
          </a:prstGeom>
          <a:noFill/>
        </p:spPr>
        <p:txBody>
          <a:bodyPr wrap="square" rtlCol="0">
            <a:spAutoFit/>
          </a:bodyPr>
          <a:lstStyle/>
          <a:p>
            <a:r>
              <a:rPr lang="en-US" sz="1600" b="1" dirty="0"/>
              <a:t>Objective</a:t>
            </a:r>
            <a:r>
              <a:rPr lang="en-US" sz="1600" dirty="0"/>
              <a:t> :- This project leverages AI and machine learning to develop an efficient diagnostic system for early detection of skin cancer, brain tumors, and pneumonia, aiming to reduce manual effort and improve healthcare outcomes</a:t>
            </a:r>
            <a:endParaRPr lang="en-IN" sz="1600" dirty="0"/>
          </a:p>
        </p:txBody>
      </p:sp>
      <p:sp>
        <p:nvSpPr>
          <p:cNvPr id="5" name="TextBox 4">
            <a:extLst>
              <a:ext uri="{FF2B5EF4-FFF2-40B4-BE49-F238E27FC236}">
                <a16:creationId xmlns:a16="http://schemas.microsoft.com/office/drawing/2014/main" id="{FF82E406-6AFB-72A8-C86A-19CB35A607C2}"/>
              </a:ext>
            </a:extLst>
          </p:cNvPr>
          <p:cNvSpPr txBox="1"/>
          <p:nvPr/>
        </p:nvSpPr>
        <p:spPr>
          <a:xfrm>
            <a:off x="521787" y="1461189"/>
            <a:ext cx="11342669" cy="584775"/>
          </a:xfrm>
          <a:prstGeom prst="rect">
            <a:avLst/>
          </a:prstGeom>
          <a:noFill/>
        </p:spPr>
        <p:txBody>
          <a:bodyPr wrap="square" rtlCol="0">
            <a:spAutoFit/>
          </a:bodyPr>
          <a:lstStyle/>
          <a:p>
            <a:pPr algn="just"/>
            <a:r>
              <a:rPr lang="en-US" sz="1600" b="1" dirty="0"/>
              <a:t>Related Work </a:t>
            </a:r>
            <a:r>
              <a:rPr lang="en-US" sz="1600" dirty="0"/>
              <a:t>: As of 2025, some of the best-performing models for disease image classification—especially for medical imaging—combine deep CNN backbones with attention mechanisms, transformers, or multi-modal learning.</a:t>
            </a:r>
            <a:endParaRPr lang="en-IN" sz="1600" dirty="0"/>
          </a:p>
        </p:txBody>
      </p:sp>
      <p:sp>
        <p:nvSpPr>
          <p:cNvPr id="6" name="TextBox 5">
            <a:extLst>
              <a:ext uri="{FF2B5EF4-FFF2-40B4-BE49-F238E27FC236}">
                <a16:creationId xmlns:a16="http://schemas.microsoft.com/office/drawing/2014/main" id="{26B113D5-25B7-3BD4-3EE3-385C969E717B}"/>
              </a:ext>
            </a:extLst>
          </p:cNvPr>
          <p:cNvSpPr txBox="1"/>
          <p:nvPr/>
        </p:nvSpPr>
        <p:spPr>
          <a:xfrm>
            <a:off x="521787" y="2087879"/>
            <a:ext cx="11148427" cy="1815882"/>
          </a:xfrm>
          <a:prstGeom prst="rect">
            <a:avLst/>
          </a:prstGeom>
          <a:noFill/>
        </p:spPr>
        <p:txBody>
          <a:bodyPr wrap="square" rtlCol="0">
            <a:spAutoFit/>
          </a:bodyPr>
          <a:lstStyle/>
          <a:p>
            <a:r>
              <a:rPr lang="en-US" sz="1600" b="1" dirty="0"/>
              <a:t>Dataset</a:t>
            </a:r>
            <a:r>
              <a:rPr lang="en-US" sz="1600" dirty="0"/>
              <a:t> :</a:t>
            </a:r>
          </a:p>
          <a:p>
            <a:pPr algn="just"/>
            <a:r>
              <a:rPr lang="en-US" sz="1600" i="1" dirty="0"/>
              <a:t>Brain Tumor </a:t>
            </a:r>
            <a:r>
              <a:rPr lang="en-US" sz="1600" dirty="0"/>
              <a:t>: The Brain MRI dataset includes 253 images—155 with tumors and 98 without tumor.</a:t>
            </a:r>
          </a:p>
          <a:p>
            <a:pPr algn="just"/>
            <a:r>
              <a:rPr lang="en-US" sz="1600" i="1" dirty="0"/>
              <a:t>Lung Cancer </a:t>
            </a:r>
            <a:r>
              <a:rPr lang="en-US" sz="1600" dirty="0"/>
              <a:t>: The Lung cancer dataset contains 5 types of Lung cancer data.</a:t>
            </a:r>
          </a:p>
          <a:p>
            <a:pPr algn="just"/>
            <a:r>
              <a:rPr lang="en-US" sz="1600" i="1" dirty="0"/>
              <a:t>Skin cancer </a:t>
            </a:r>
            <a:r>
              <a:rPr lang="en-US" sz="1600" dirty="0"/>
              <a:t>: The HAM10000 dataset comprises 10,015 </a:t>
            </a:r>
            <a:r>
              <a:rPr lang="en-US" sz="1600" dirty="0" err="1"/>
              <a:t>dermatoscopic</a:t>
            </a:r>
            <a:r>
              <a:rPr lang="en-US" sz="1600" dirty="0"/>
              <a:t> images across seven skin lesion categories.</a:t>
            </a:r>
          </a:p>
          <a:p>
            <a:pPr algn="just"/>
            <a:r>
              <a:rPr lang="en-US" sz="1600" i="1" dirty="0"/>
              <a:t>Pneumonia : D</a:t>
            </a:r>
            <a:r>
              <a:rPr lang="en-US" sz="1600" dirty="0"/>
              <a:t>ataset contains 5,863 pediatric chest X-ray images (Pneumonia/Normal), organized into train/test/</a:t>
            </a:r>
            <a:r>
              <a:rPr lang="en-US" sz="1600" dirty="0" err="1"/>
              <a:t>val</a:t>
            </a:r>
            <a:r>
              <a:rPr lang="en-US" sz="1600" dirty="0"/>
              <a:t> sets.</a:t>
            </a:r>
          </a:p>
          <a:p>
            <a:endParaRPr lang="en-US" sz="1600" dirty="0"/>
          </a:p>
          <a:p>
            <a:endParaRPr lang="en-IN" sz="1600" dirty="0"/>
          </a:p>
        </p:txBody>
      </p:sp>
      <p:sp>
        <p:nvSpPr>
          <p:cNvPr id="7" name="TextBox 6">
            <a:extLst>
              <a:ext uri="{FF2B5EF4-FFF2-40B4-BE49-F238E27FC236}">
                <a16:creationId xmlns:a16="http://schemas.microsoft.com/office/drawing/2014/main" id="{01A5905F-CAEE-BC31-9AD4-C16DF2059DC2}"/>
              </a:ext>
            </a:extLst>
          </p:cNvPr>
          <p:cNvSpPr txBox="1"/>
          <p:nvPr/>
        </p:nvSpPr>
        <p:spPr>
          <a:xfrm>
            <a:off x="521787" y="3508891"/>
            <a:ext cx="11109789" cy="584775"/>
          </a:xfrm>
          <a:prstGeom prst="rect">
            <a:avLst/>
          </a:prstGeom>
          <a:noFill/>
        </p:spPr>
        <p:txBody>
          <a:bodyPr wrap="square" rtlCol="0">
            <a:spAutoFit/>
          </a:bodyPr>
          <a:lstStyle/>
          <a:p>
            <a:r>
              <a:rPr lang="en-US" sz="1600" b="1" dirty="0"/>
              <a:t>Architecture -</a:t>
            </a:r>
          </a:p>
          <a:p>
            <a:r>
              <a:rPr lang="en-US" sz="1600" i="1" dirty="0"/>
              <a:t>Brain Tumor :			Lung cancer :		         skin cancer:		Pneumonia :</a:t>
            </a:r>
            <a:endParaRPr lang="en-US" sz="1600" b="1" dirty="0"/>
          </a:p>
        </p:txBody>
      </p:sp>
      <p:pic>
        <p:nvPicPr>
          <p:cNvPr id="8" name="Picture 7" descr="A diagram of a network architecture&#10;&#10;AI-generated content may be incorrect.">
            <a:extLst>
              <a:ext uri="{FF2B5EF4-FFF2-40B4-BE49-F238E27FC236}">
                <a16:creationId xmlns:a16="http://schemas.microsoft.com/office/drawing/2014/main" id="{F90602E3-4264-57A5-AECB-67DE00D8FB15}"/>
              </a:ext>
            </a:extLst>
          </p:cNvPr>
          <p:cNvPicPr>
            <a:picLocks noChangeAspect="1"/>
          </p:cNvPicPr>
          <p:nvPr/>
        </p:nvPicPr>
        <p:blipFill>
          <a:blip r:embed="rId2"/>
          <a:srcRect t="15368" r="8382"/>
          <a:stretch/>
        </p:blipFill>
        <p:spPr>
          <a:xfrm>
            <a:off x="547955" y="4067313"/>
            <a:ext cx="3036979" cy="2496367"/>
          </a:xfrm>
          <a:prstGeom prst="rect">
            <a:avLst/>
          </a:prstGeom>
        </p:spPr>
      </p:pic>
      <p:pic>
        <p:nvPicPr>
          <p:cNvPr id="11" name="Picture 10" descr="A diagram of a layer of layers&#10;&#10;AI-generated content may be incorrect.">
            <a:extLst>
              <a:ext uri="{FF2B5EF4-FFF2-40B4-BE49-F238E27FC236}">
                <a16:creationId xmlns:a16="http://schemas.microsoft.com/office/drawing/2014/main" id="{806C5BBB-C7E1-56D3-E702-B30F0D09764A}"/>
              </a:ext>
            </a:extLst>
          </p:cNvPr>
          <p:cNvPicPr>
            <a:picLocks noChangeAspect="1"/>
          </p:cNvPicPr>
          <p:nvPr/>
        </p:nvPicPr>
        <p:blipFill>
          <a:blip r:embed="rId3"/>
          <a:stretch>
            <a:fillRect/>
          </a:stretch>
        </p:blipFill>
        <p:spPr>
          <a:xfrm>
            <a:off x="3936349" y="4071617"/>
            <a:ext cx="2502123" cy="1821652"/>
          </a:xfrm>
          <a:prstGeom prst="rect">
            <a:avLst/>
          </a:prstGeom>
        </p:spPr>
      </p:pic>
      <p:pic>
        <p:nvPicPr>
          <p:cNvPr id="13" name="Picture 12" descr="A diagram of a structure&#10;&#10;AI-generated content may be incorrect.">
            <a:extLst>
              <a:ext uri="{FF2B5EF4-FFF2-40B4-BE49-F238E27FC236}">
                <a16:creationId xmlns:a16="http://schemas.microsoft.com/office/drawing/2014/main" id="{F0347B4B-9D6B-6A4B-F1D0-E5B98CAD268A}"/>
              </a:ext>
            </a:extLst>
          </p:cNvPr>
          <p:cNvPicPr>
            <a:picLocks noChangeAspect="1"/>
          </p:cNvPicPr>
          <p:nvPr/>
        </p:nvPicPr>
        <p:blipFill>
          <a:blip r:embed="rId4"/>
          <a:stretch>
            <a:fillRect/>
          </a:stretch>
        </p:blipFill>
        <p:spPr>
          <a:xfrm>
            <a:off x="6789889" y="4067312"/>
            <a:ext cx="2828244" cy="1885496"/>
          </a:xfrm>
          <a:prstGeom prst="rect">
            <a:avLst/>
          </a:prstGeom>
        </p:spPr>
      </p:pic>
      <p:pic>
        <p:nvPicPr>
          <p:cNvPr id="14" name="Picture 13" descr="A diagram of a block diagram&#10;&#10;AI-generated content may be incorrect.">
            <a:extLst>
              <a:ext uri="{FF2B5EF4-FFF2-40B4-BE49-F238E27FC236}">
                <a16:creationId xmlns:a16="http://schemas.microsoft.com/office/drawing/2014/main" id="{D4E3456A-85DB-7663-A6A1-F78B4193013B}"/>
              </a:ext>
            </a:extLst>
          </p:cNvPr>
          <p:cNvPicPr>
            <a:picLocks noChangeAspect="1"/>
          </p:cNvPicPr>
          <p:nvPr/>
        </p:nvPicPr>
        <p:blipFill>
          <a:blip r:embed="rId5"/>
          <a:srcRect t="8191"/>
          <a:stretch/>
        </p:blipFill>
        <p:spPr>
          <a:xfrm>
            <a:off x="10087301" y="4124445"/>
            <a:ext cx="1700665" cy="2185916"/>
          </a:xfrm>
          <a:prstGeom prst="rect">
            <a:avLst/>
          </a:prstGeom>
        </p:spPr>
      </p:pic>
    </p:spTree>
    <p:extLst>
      <p:ext uri="{BB962C8B-B14F-4D97-AF65-F5344CB8AC3E}">
        <p14:creationId xmlns:p14="http://schemas.microsoft.com/office/powerpoint/2010/main" val="702988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EE4FD0-D095-9962-D83F-A08E4B3A5D04}"/>
              </a:ext>
            </a:extLst>
          </p:cNvPr>
          <p:cNvSpPr txBox="1"/>
          <p:nvPr/>
        </p:nvSpPr>
        <p:spPr>
          <a:xfrm>
            <a:off x="465765" y="273976"/>
            <a:ext cx="11287873" cy="830997"/>
          </a:xfrm>
          <a:prstGeom prst="rect">
            <a:avLst/>
          </a:prstGeom>
          <a:noFill/>
        </p:spPr>
        <p:txBody>
          <a:bodyPr wrap="square" rtlCol="0">
            <a:spAutoFit/>
          </a:bodyPr>
          <a:lstStyle/>
          <a:p>
            <a:r>
              <a:rPr lang="en-US" sz="1600" b="1" i="1" dirty="0"/>
              <a:t>Results -</a:t>
            </a:r>
            <a:r>
              <a:rPr lang="en-US" sz="1600" dirty="0"/>
              <a:t>	</a:t>
            </a:r>
          </a:p>
          <a:p>
            <a:r>
              <a:rPr lang="en-US" sz="1600" dirty="0"/>
              <a:t>Brain Tumor:		           	Lung cancer :		Skin cancer :		         Pneumonia :</a:t>
            </a:r>
          </a:p>
          <a:p>
            <a:endParaRPr lang="en-IN" sz="1600" dirty="0"/>
          </a:p>
        </p:txBody>
      </p:sp>
      <p:pic>
        <p:nvPicPr>
          <p:cNvPr id="6" name="Picture 5">
            <a:extLst>
              <a:ext uri="{FF2B5EF4-FFF2-40B4-BE49-F238E27FC236}">
                <a16:creationId xmlns:a16="http://schemas.microsoft.com/office/drawing/2014/main" id="{38B9BA7E-C58A-23E6-0F47-ECCDE830A86B}"/>
              </a:ext>
            </a:extLst>
          </p:cNvPr>
          <p:cNvPicPr>
            <a:picLocks noChangeAspect="1"/>
          </p:cNvPicPr>
          <p:nvPr/>
        </p:nvPicPr>
        <p:blipFill>
          <a:blip r:embed="rId3"/>
          <a:stretch>
            <a:fillRect/>
          </a:stretch>
        </p:blipFill>
        <p:spPr>
          <a:xfrm>
            <a:off x="325697" y="816941"/>
            <a:ext cx="3132145" cy="2065715"/>
          </a:xfrm>
          <a:prstGeom prst="rect">
            <a:avLst/>
          </a:prstGeom>
        </p:spPr>
      </p:pic>
      <p:pic>
        <p:nvPicPr>
          <p:cNvPr id="7" name="Picture 6" descr="A blue squares with white text&#10;&#10;AI-generated content may be incorrect.">
            <a:extLst>
              <a:ext uri="{FF2B5EF4-FFF2-40B4-BE49-F238E27FC236}">
                <a16:creationId xmlns:a16="http://schemas.microsoft.com/office/drawing/2014/main" id="{6458CE71-2EBD-36AC-CE61-E50160AA64B8}"/>
              </a:ext>
            </a:extLst>
          </p:cNvPr>
          <p:cNvPicPr>
            <a:picLocks noChangeAspect="1"/>
          </p:cNvPicPr>
          <p:nvPr/>
        </p:nvPicPr>
        <p:blipFill>
          <a:blip r:embed="rId4"/>
          <a:stretch>
            <a:fillRect/>
          </a:stretch>
        </p:blipFill>
        <p:spPr>
          <a:xfrm>
            <a:off x="3331828" y="884807"/>
            <a:ext cx="2739517" cy="2225055"/>
          </a:xfrm>
          <a:prstGeom prst="rect">
            <a:avLst/>
          </a:prstGeom>
        </p:spPr>
      </p:pic>
      <p:pic>
        <p:nvPicPr>
          <p:cNvPr id="8" name="Picture 7" descr="A graph of a curve&#10;&#10;AI-generated content may be incorrect.">
            <a:extLst>
              <a:ext uri="{FF2B5EF4-FFF2-40B4-BE49-F238E27FC236}">
                <a16:creationId xmlns:a16="http://schemas.microsoft.com/office/drawing/2014/main" id="{3D925576-13E6-B81C-2BBF-85589B1B3A6E}"/>
              </a:ext>
            </a:extLst>
          </p:cNvPr>
          <p:cNvPicPr>
            <a:picLocks noChangeAspect="1"/>
          </p:cNvPicPr>
          <p:nvPr/>
        </p:nvPicPr>
        <p:blipFill>
          <a:blip r:embed="rId5"/>
          <a:stretch>
            <a:fillRect/>
          </a:stretch>
        </p:blipFill>
        <p:spPr>
          <a:xfrm>
            <a:off x="6316838" y="816941"/>
            <a:ext cx="2652071" cy="2065715"/>
          </a:xfrm>
          <a:prstGeom prst="rect">
            <a:avLst/>
          </a:prstGeom>
        </p:spPr>
      </p:pic>
      <p:pic>
        <p:nvPicPr>
          <p:cNvPr id="9" name="Picture 8" descr="A diagram of a confusion matrix&#10;&#10;AI-generated content may be incorrect.">
            <a:extLst>
              <a:ext uri="{FF2B5EF4-FFF2-40B4-BE49-F238E27FC236}">
                <a16:creationId xmlns:a16="http://schemas.microsoft.com/office/drawing/2014/main" id="{AFBA19ED-5C72-D485-5741-C7C6A49C5F5A}"/>
              </a:ext>
            </a:extLst>
          </p:cNvPr>
          <p:cNvPicPr>
            <a:picLocks noChangeAspect="1"/>
          </p:cNvPicPr>
          <p:nvPr/>
        </p:nvPicPr>
        <p:blipFill>
          <a:blip r:embed="rId6"/>
          <a:stretch>
            <a:fillRect/>
          </a:stretch>
        </p:blipFill>
        <p:spPr>
          <a:xfrm>
            <a:off x="9214401" y="816941"/>
            <a:ext cx="2679305" cy="2187280"/>
          </a:xfrm>
          <a:prstGeom prst="rect">
            <a:avLst/>
          </a:prstGeom>
        </p:spPr>
      </p:pic>
      <p:sp>
        <p:nvSpPr>
          <p:cNvPr id="11" name="TextBox 10">
            <a:extLst>
              <a:ext uri="{FF2B5EF4-FFF2-40B4-BE49-F238E27FC236}">
                <a16:creationId xmlns:a16="http://schemas.microsoft.com/office/drawing/2014/main" id="{F15B97F6-9B47-7E0A-F83C-69F19BB13596}"/>
              </a:ext>
            </a:extLst>
          </p:cNvPr>
          <p:cNvSpPr txBox="1"/>
          <p:nvPr/>
        </p:nvSpPr>
        <p:spPr>
          <a:xfrm>
            <a:off x="408931" y="3687085"/>
            <a:ext cx="7479584" cy="1077218"/>
          </a:xfrm>
          <a:prstGeom prst="rect">
            <a:avLst/>
          </a:prstGeom>
          <a:noFill/>
        </p:spPr>
        <p:txBody>
          <a:bodyPr wrap="square" rtlCol="0">
            <a:spAutoFit/>
          </a:bodyPr>
          <a:lstStyle/>
          <a:p>
            <a:r>
              <a:rPr lang="en-US" sz="1600" b="1" dirty="0"/>
              <a:t>Challenges </a:t>
            </a:r>
            <a:r>
              <a:rPr lang="en-US" sz="1600" dirty="0"/>
              <a:t>:</a:t>
            </a:r>
          </a:p>
          <a:p>
            <a:pPr marL="228594" indent="-228594">
              <a:buFont typeface="Arial" panose="020B0604020202020204" pitchFamily="34" charset="0"/>
              <a:buChar char="•"/>
            </a:pPr>
            <a:r>
              <a:rPr lang="en-US" sz="1600" dirty="0"/>
              <a:t>Unsatisfactory dataset in some cases.</a:t>
            </a:r>
          </a:p>
          <a:p>
            <a:pPr marL="228594" indent="-228594">
              <a:buFont typeface="Arial" panose="020B0604020202020204" pitchFamily="34" charset="0"/>
              <a:buChar char="•"/>
            </a:pPr>
            <a:r>
              <a:rPr lang="en-US" sz="1600" dirty="0"/>
              <a:t>Lack of computational power.</a:t>
            </a:r>
            <a:endParaRPr lang="en-US" sz="2400" dirty="0"/>
          </a:p>
          <a:p>
            <a:pPr marL="228594" indent="-228594">
              <a:buFont typeface="Arial" panose="020B0604020202020204" pitchFamily="34" charset="0"/>
              <a:buChar char="•"/>
            </a:pPr>
            <a:r>
              <a:rPr lang="en-US" sz="1600" dirty="0"/>
              <a:t>Time constraints.</a:t>
            </a:r>
            <a:endParaRPr lang="en-IN" sz="1600" dirty="0"/>
          </a:p>
        </p:txBody>
      </p:sp>
      <p:pic>
        <p:nvPicPr>
          <p:cNvPr id="13" name="Picture 12" descr="A black text with white background&#10;&#10;AI-generated content may be incorrect.">
            <a:extLst>
              <a:ext uri="{FF2B5EF4-FFF2-40B4-BE49-F238E27FC236}">
                <a16:creationId xmlns:a16="http://schemas.microsoft.com/office/drawing/2014/main" id="{A00B0447-3787-D40F-1CE4-EACE32210C46}"/>
              </a:ext>
            </a:extLst>
          </p:cNvPr>
          <p:cNvPicPr>
            <a:picLocks noChangeAspect="1"/>
          </p:cNvPicPr>
          <p:nvPr/>
        </p:nvPicPr>
        <p:blipFill>
          <a:blip r:embed="rId7"/>
          <a:srcRect l="13538" t="5743" r="11841" b="5858"/>
          <a:stretch/>
        </p:blipFill>
        <p:spPr>
          <a:xfrm>
            <a:off x="4531909" y="4906658"/>
            <a:ext cx="1999275" cy="1677367"/>
          </a:xfrm>
          <a:prstGeom prst="rect">
            <a:avLst/>
          </a:prstGeom>
        </p:spPr>
      </p:pic>
      <p:sp>
        <p:nvSpPr>
          <p:cNvPr id="14" name="TextBox 13">
            <a:extLst>
              <a:ext uri="{FF2B5EF4-FFF2-40B4-BE49-F238E27FC236}">
                <a16:creationId xmlns:a16="http://schemas.microsoft.com/office/drawing/2014/main" id="{9A2225C4-2358-AA3D-70CF-63AF342515D0}"/>
              </a:ext>
            </a:extLst>
          </p:cNvPr>
          <p:cNvSpPr txBox="1"/>
          <p:nvPr/>
        </p:nvSpPr>
        <p:spPr>
          <a:xfrm>
            <a:off x="8955140" y="3484448"/>
            <a:ext cx="1598912" cy="338554"/>
          </a:xfrm>
          <a:prstGeom prst="rect">
            <a:avLst/>
          </a:prstGeom>
          <a:noFill/>
        </p:spPr>
        <p:txBody>
          <a:bodyPr wrap="square" rtlCol="0">
            <a:spAutoFit/>
          </a:bodyPr>
          <a:lstStyle/>
          <a:p>
            <a:r>
              <a:rPr lang="en-US" sz="1600" b="1" dirty="0"/>
              <a:t>Website :</a:t>
            </a:r>
            <a:endParaRPr lang="en-IN" sz="1600" b="1" dirty="0"/>
          </a:p>
        </p:txBody>
      </p:sp>
      <p:pic>
        <p:nvPicPr>
          <p:cNvPr id="16" name="Picture 15" descr="A screenshot of a computer&#10;&#10;AI-generated content may be incorrect.">
            <a:extLst>
              <a:ext uri="{FF2B5EF4-FFF2-40B4-BE49-F238E27FC236}">
                <a16:creationId xmlns:a16="http://schemas.microsoft.com/office/drawing/2014/main" id="{ECF0A927-EF59-43FE-7FA7-7666826F1DE7}"/>
              </a:ext>
            </a:extLst>
          </p:cNvPr>
          <p:cNvPicPr>
            <a:picLocks noChangeAspect="1"/>
          </p:cNvPicPr>
          <p:nvPr/>
        </p:nvPicPr>
        <p:blipFill>
          <a:blip r:embed="rId8"/>
          <a:stretch>
            <a:fillRect/>
          </a:stretch>
        </p:blipFill>
        <p:spPr>
          <a:xfrm>
            <a:off x="8963964" y="3857218"/>
            <a:ext cx="2425695" cy="1604007"/>
          </a:xfrm>
          <a:prstGeom prst="rect">
            <a:avLst/>
          </a:prstGeom>
        </p:spPr>
      </p:pic>
    </p:spTree>
    <p:extLst>
      <p:ext uri="{BB962C8B-B14F-4D97-AF65-F5344CB8AC3E}">
        <p14:creationId xmlns:p14="http://schemas.microsoft.com/office/powerpoint/2010/main" val="1189620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212</Words>
  <Application>Microsoft Office PowerPoint</Application>
  <PresentationFormat>Widescreen</PresentationFormat>
  <Paragraphs>17</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Amiya Ghosh</dc:creator>
  <cp:lastModifiedBy>Amiya Ghosh</cp:lastModifiedBy>
  <cp:revision>1</cp:revision>
  <dcterms:created xsi:type="dcterms:W3CDTF">2025-04-23T14:57:04Z</dcterms:created>
  <dcterms:modified xsi:type="dcterms:W3CDTF">2025-04-23T14:58:03Z</dcterms:modified>
</cp:coreProperties>
</file>